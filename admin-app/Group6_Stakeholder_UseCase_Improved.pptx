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explain that the project replaces a manual award survey workflow. The key issue is not just collecting feedback; it is making the data accurate enough for administrators and nominees to use without hours of manual cleanup.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connect each stakeholder to a design pressure. Administrators care about reducing manual checking; students care about simple nomination entry; nominees care about seeing the right feedback and uploading applications; IT cares about secure and maintainable deployment.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this slide shows traceability. We did not invent use cases directly from screens; we started from stakeholder goals and mapped them to requirement codes from the submitted specification.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keep this slide practical. Walk through the main flow, then explain that alternative flows are not extra decoration; they are where testing and validation requirements become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emphasize the practice recommendations. The presentation should end by saying that stakeholder analysis and use cases were not just documentation tasks; they helped define what the prototype should actually do and what it should not attempt.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36"/>
          </a:solidFill>
          <a:ln w="12700">
            <a:solidFill>
              <a:srgbClr val="0D22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95360" y="-1097280"/>
            <a:ext cx="4389120" cy="4389120"/>
          </a:xfrm>
          <a:prstGeom prst="arc">
            <a:avLst/>
          </a:prstGeom>
          <a:solidFill>
            <a:srgbClr val="D8A31A">
              <a:alpha val="92000"/>
            </a:srgbClr>
          </a:solidFill>
          <a:ln w="12700">
            <a:solidFill>
              <a:srgbClr val="D8A31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303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4CF"/>
                </a:solidFill>
              </a:rPr>
              <a:t>Group 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8755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UWA Business School Award Survey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0352" y="508406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DEAF2"/>
                </a:solidFill>
              </a:rPr>
              <a:t>A small workflow problem with a high manual cost: clean nomination data, group feedback, notify nominees, and support award applications.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43400" y="1335024"/>
            <a:ext cx="65836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Stakeholder and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Analysis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389120" y="3127248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B8CAD8"/>
                </a:solidFill>
              </a:rPr>
              <a:t>Peer presentation | Thursday 7 May 2026 | 11:00 am | Room 2.07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07408" y="40050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173C58"/>
          </a:solidFill>
          <a:ln w="12700">
            <a:solidFill>
              <a:srgbClr val="2C55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416966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Problem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608576" y="4535424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9F0"/>
                </a:solidFill>
              </a:rPr>
              <a:t>Manual Microsoft Forms process creates matching and collation work.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6739128" y="40050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FFF4CF"/>
          </a:solidFill>
          <a:ln w="12700">
            <a:solidFill>
              <a:srgbClr val="FFF4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0296" y="416966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D2236"/>
                </a:solidFill>
              </a:rPr>
              <a:t>Scope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6940296" y="4535424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C4A16"/>
                </a:solidFill>
              </a:rPr>
              <a:t>Student feedback, admin review, nominee contact, and application upload.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9070848" y="4005072"/>
            <a:ext cx="1993392" cy="1170432"/>
          </a:xfrm>
          <a:prstGeom prst="roundRect">
            <a:avLst>
              <a:gd name="adj" fmla="val 6250"/>
            </a:avLst>
          </a:prstGeom>
          <a:solidFill>
            <a:srgbClr val="173C58"/>
          </a:solidFill>
          <a:ln w="12700">
            <a:solidFill>
              <a:srgbClr val="2C55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72016" y="416966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</a:rPr>
              <a:t>Constraint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9272016" y="4535424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DCE9F0"/>
                </a:solidFill>
              </a:rPr>
              <a:t>Zero budget for hosting or tooling.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Stakeholders: who changes the requirements?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We ranked stakeholders by influence and by how directly they depend on the system outcome.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197864"/>
            <a:ext cx="2011680" cy="0"/>
          </a:xfrm>
          <a:prstGeom prst="line">
            <a:avLst/>
          </a:prstGeom>
          <a:noFill/>
          <a:ln w="27940">
            <a:solidFill>
              <a:srgbClr val="D8A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6 | Stakeholder analysis and use cases | 2/5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94944" y="1536192"/>
            <a:ext cx="10771632" cy="804672"/>
          </a:xfrm>
          <a:prstGeom prst="roundRect">
            <a:avLst>
              <a:gd name="adj" fmla="val 6818"/>
            </a:avLst>
          </a:prstGeom>
          <a:solidFill>
            <a:srgbClr val="F2F7FA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36192"/>
            <a:ext cx="146304" cy="804672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7007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D2733"/>
                </a:solidFill>
              </a:rPr>
              <a:t>Business School Administration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3584448" y="1682496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System owner; controls periods, master data, review, exports, and notifications.</a:t>
            </a:r>
            <a:endParaRPr lang="en-US" sz="860" dirty="0"/>
          </a:p>
        </p:txBody>
      </p:sp>
      <p:sp>
        <p:nvSpPr>
          <p:cNvPr id="11" name="Shape 9"/>
          <p:cNvSpPr/>
          <p:nvPr/>
        </p:nvSpPr>
        <p:spPr>
          <a:xfrm>
            <a:off x="9253728" y="1792224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2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63456" y="1860804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High influence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694944" y="2615184"/>
            <a:ext cx="1077163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" y="2615184"/>
            <a:ext cx="146304" cy="80467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77977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D2733"/>
                </a:solidFill>
              </a:rPr>
              <a:t>Students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584448" y="2761488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Submit nominations and need fast lecturer/unit selection with fewer typing errors.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9253728" y="2871216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63456" y="2939796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High influence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694944" y="3694176"/>
            <a:ext cx="10771632" cy="804672"/>
          </a:xfrm>
          <a:prstGeom prst="roundRect">
            <a:avLst>
              <a:gd name="adj" fmla="val 6818"/>
            </a:avLst>
          </a:prstGeom>
          <a:solidFill>
            <a:srgbClr val="F2F7FA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" y="3694176"/>
            <a:ext cx="146304" cy="804672"/>
          </a:xfrm>
          <a:prstGeom prst="rect">
            <a:avLst/>
          </a:prstGeom>
          <a:solidFill>
            <a:srgbClr val="D8A31A"/>
          </a:solidFill>
          <a:ln w="12700">
            <a:solidFill>
              <a:srgbClr val="D8A3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5876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D2733"/>
                </a:solidFill>
              </a:rPr>
              <a:t>Nominees / Academic Staff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584448" y="3840480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Receive compiled feedback and submit Teaching &amp; Learning Award applications.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9253728" y="3950208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D8A3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63456" y="4018788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High influence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94944" y="4773168"/>
            <a:ext cx="10771632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0160">
            <a:solidFill>
              <a:srgbClr val="D7E2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" y="4773168"/>
            <a:ext cx="146304" cy="804672"/>
          </a:xfrm>
          <a:prstGeom prst="rect">
            <a:avLst/>
          </a:prstGeom>
          <a:solidFill>
            <a:srgbClr val="1E5B8A"/>
          </a:solidFill>
          <a:ln w="12700">
            <a:solidFill>
              <a:srgbClr val="1E5B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9377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D2733"/>
                </a:solidFill>
              </a:rPr>
              <a:t>Business School IT / Technical Support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3584448" y="4919472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Supports deployment, security, access, and compatibility advice.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9253728" y="5029200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1E5B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63456" y="5097780"/>
            <a:ext cx="1106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Medium influence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749808" y="5833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8A31A"/>
                </a:solidFill>
              </a:rPr>
              <a:t>Design implication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93392" y="580644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</a:rPr>
              <a:t>Admin and student needs drive the must-have requirements; nominee and IT needs prevent weak security, file handling, and notification design.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stories convert stakeholder goals into requirements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Each story keeps one actor, one goal, and one reason, then links to requirement codes from the specification.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197864"/>
            <a:ext cx="2011680" cy="0"/>
          </a:xfrm>
          <a:prstGeom prst="line">
            <a:avLst/>
          </a:prstGeom>
          <a:noFill/>
          <a:ln w="27940">
            <a:solidFill>
              <a:srgbClr val="D8A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6 | Stakeholder analysis and use cases | 3/5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49808" y="1572768"/>
            <a:ext cx="106984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D8E1E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50976" y="1737360"/>
            <a:ext cx="10296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2A9D8F"/>
                </a:solidFill>
              </a:rPr>
              <a:t>Student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50976" y="2103120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 want to search valid staff and unit records, so that my nomination reaches the correct academic staff member.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8595360" y="1773936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82422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ST-01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9217152" y="1773936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17152" y="182422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ST-02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9838944" y="1773936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38944" y="1824228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ST-03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749808" y="2926080"/>
            <a:ext cx="106984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D8E1E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" y="3090672"/>
            <a:ext cx="10296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E5B8A"/>
                </a:solidFill>
              </a:rPr>
              <a:t>Administrator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950976" y="3456432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 want to upload current master data and review nominations, so that incorrect or inappropriate records can be fixed before processing.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595360" y="3127248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1E5B8A"/>
          </a:solidFill>
          <a:ln w="12700">
            <a:solidFill>
              <a:srgbClr val="1E5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317754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DA-02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217152" y="3127248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1E5B8A"/>
          </a:solidFill>
          <a:ln w="12700">
            <a:solidFill>
              <a:srgbClr val="1E5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17152" y="317754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DA-03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9838944" y="3127248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1E5B8A"/>
          </a:solidFill>
          <a:ln w="12700">
            <a:solidFill>
              <a:srgbClr val="1E5B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38944" y="317754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AD-02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0460736" y="3127248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1E5B8A"/>
          </a:solidFill>
          <a:ln w="12700">
            <a:solidFill>
              <a:srgbClr val="1E5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60736" y="3177540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AD-03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749808" y="4279392"/>
            <a:ext cx="1069848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D8E1EA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50976" y="4443984"/>
            <a:ext cx="10296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8A6200"/>
                </a:solidFill>
              </a:rPr>
              <a:t>Nominee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950976" y="4809744"/>
            <a:ext cx="10296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 want to access my compiled nomination feedback and upload application files, so that I can complete the award application process.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8595360" y="4480560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D8A31A"/>
          </a:solidFill>
          <a:ln w="12700">
            <a:solidFill>
              <a:srgbClr val="D8A31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0" y="453085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AP-01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9217152" y="4480560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D8A31A"/>
          </a:solidFill>
          <a:ln w="12700">
            <a:solidFill>
              <a:srgbClr val="D8A3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17152" y="453085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AP-02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9838944" y="4480560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D8A31A"/>
          </a:solidFill>
          <a:ln w="12700">
            <a:solidFill>
              <a:srgbClr val="D8A31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838944" y="453085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AP-04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0460736" y="4480560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D8A31A"/>
          </a:solidFill>
          <a:ln w="12700">
            <a:solidFill>
              <a:srgbClr val="D8A3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60736" y="453085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AC-02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874520" y="5650992"/>
            <a:ext cx="7589520" cy="0"/>
          </a:xfrm>
          <a:prstGeom prst="line">
            <a:avLst/>
          </a:prstGeom>
          <a:noFill/>
          <a:ln w="15240">
            <a:solidFill>
              <a:srgbClr val="D7E2EA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143000" y="5367528"/>
            <a:ext cx="530352" cy="530352"/>
          </a:xfrm>
          <a:prstGeom prst="ellipse">
            <a:avLst/>
          </a:prstGeom>
          <a:solidFill>
            <a:srgbClr val="EAF4FA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552297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5B8A"/>
                </a:solidFill>
              </a:rPr>
              <a:t>1</a:t>
            </a:r>
            <a:endParaRPr lang="en-US" sz="820" dirty="0"/>
          </a:p>
        </p:txBody>
      </p:sp>
      <p:sp>
        <p:nvSpPr>
          <p:cNvPr id="41" name="Text 39"/>
          <p:cNvSpPr/>
          <p:nvPr/>
        </p:nvSpPr>
        <p:spPr>
          <a:xfrm>
            <a:off x="850392" y="598932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</a:rPr>
              <a:t>Stakeholder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3977640" y="5367528"/>
            <a:ext cx="530352" cy="530352"/>
          </a:xfrm>
          <a:prstGeom prst="ellipse">
            <a:avLst/>
          </a:prstGeom>
          <a:solidFill>
            <a:srgbClr val="EAF4FA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77640" y="552297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5B8A"/>
                </a:solidFill>
              </a:rPr>
              <a:t>2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3685032" y="598932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</a:rPr>
              <a:t>User story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6812280" y="5367528"/>
            <a:ext cx="530352" cy="530352"/>
          </a:xfrm>
          <a:prstGeom prst="ellipse">
            <a:avLst/>
          </a:prstGeom>
          <a:solidFill>
            <a:srgbClr val="EAF4FA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12280" y="552297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E5B8A"/>
                </a:solidFill>
              </a:rPr>
              <a:t>3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6519672" y="598932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</a:rPr>
              <a:t>Requirement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9646920" y="5367528"/>
            <a:ext cx="530352" cy="530352"/>
          </a:xfrm>
          <a:prstGeom prst="ellipse">
            <a:avLst/>
          </a:prstGeom>
          <a:solidFill>
            <a:srgbClr val="D8A31A"/>
          </a:solidFill>
          <a:ln w="12700">
            <a:solidFill>
              <a:srgbClr val="D8A3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46920" y="5522976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4</a:t>
            </a:r>
            <a:endParaRPr lang="en-US" sz="820" dirty="0"/>
          </a:p>
        </p:txBody>
      </p:sp>
      <p:sp>
        <p:nvSpPr>
          <p:cNvPr id="50" name="Text 48"/>
          <p:cNvSpPr/>
          <p:nvPr/>
        </p:nvSpPr>
        <p:spPr>
          <a:xfrm>
            <a:off x="9354312" y="598932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64748B"/>
                </a:solidFill>
              </a:rPr>
              <a:t>Use case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47472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D27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case example: submit a valid nomination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85216" y="86868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UC-01 focuses on the highest-volume path: student nomination with staff/unit validation.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1197864"/>
            <a:ext cx="2011680" cy="0"/>
          </a:xfrm>
          <a:prstGeom prst="line">
            <a:avLst/>
          </a:prstGeom>
          <a:noFill/>
          <a:ln w="27940">
            <a:solidFill>
              <a:srgbClr val="D8A3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465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6 | Stakeholder analysis and use cases | 4/5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1783080"/>
            <a:ext cx="157276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19385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77824" y="2267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2733"/>
                </a:solidFill>
              </a:rPr>
              <a:t>Open nomination form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322576" y="2240280"/>
            <a:ext cx="521208" cy="0"/>
          </a:xfrm>
          <a:prstGeom prst="line">
            <a:avLst/>
          </a:prstGeom>
          <a:noFill/>
          <a:ln w="16510">
            <a:solidFill>
              <a:srgbClr val="1E5B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26080" y="1783080"/>
            <a:ext cx="157276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9385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90672" y="2267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2733"/>
                </a:solidFill>
              </a:rPr>
              <a:t>Search lecturer and unit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535424" y="2240280"/>
            <a:ext cx="521208" cy="0"/>
          </a:xfrm>
          <a:prstGeom prst="line">
            <a:avLst/>
          </a:prstGeom>
          <a:noFill/>
          <a:ln w="16510">
            <a:solidFill>
              <a:srgbClr val="1E5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138928" y="1783080"/>
            <a:ext cx="1572768" cy="932688"/>
          </a:xfrm>
          <a:prstGeom prst="roundRect">
            <a:avLst>
              <a:gd name="adj" fmla="val 5882"/>
            </a:avLst>
          </a:prstGeom>
          <a:solidFill>
            <a:srgbClr val="FFF4CF"/>
          </a:solidFill>
          <a:ln w="12700">
            <a:solidFill>
              <a:srgbClr val="D8A3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19385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A31A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2267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2733"/>
                </a:solidFill>
              </a:rPr>
              <a:t>System validates records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748272" y="2240280"/>
            <a:ext cx="521208" cy="0"/>
          </a:xfrm>
          <a:prstGeom prst="line">
            <a:avLst/>
          </a:prstGeom>
          <a:noFill/>
          <a:ln w="16510">
            <a:solidFill>
              <a:srgbClr val="1E5B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351776" y="1783080"/>
            <a:ext cx="157276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16368" y="19385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16368" y="2267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2733"/>
                </a:solidFill>
              </a:rPr>
              <a:t>Write nomination comments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8961120" y="2240280"/>
            <a:ext cx="521208" cy="0"/>
          </a:xfrm>
          <a:prstGeom prst="line">
            <a:avLst/>
          </a:prstGeom>
          <a:noFill/>
          <a:ln w="16510">
            <a:solidFill>
              <a:srgbClr val="1E5B8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564624" y="1783080"/>
            <a:ext cx="1572768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9216" y="19385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29216" y="2267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2733"/>
                </a:solidFill>
              </a:rPr>
              <a:t>Submit and receive confirmation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49808" y="3438144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EAF4FA"/>
          </a:solidFill>
          <a:ln w="12700">
            <a:solidFill>
              <a:srgbClr val="C9E1ED"/>
            </a:solidFill>
            <a:prstDash val="solid"/>
          </a:ln>
          <a:effectLst>
            <a:outerShdw sx="100000" sy="100000" kx="0" ky="0" algn="bl" rotWithShape="0" blurRad="12700" dist="50800" dir="2700000">
              <a:srgbClr val="D8E1EA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50976" y="360273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D2733"/>
                </a:solidFill>
              </a:rPr>
              <a:t>Actors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0976" y="3968496"/>
            <a:ext cx="2478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Primary: Student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Supporting: System, Master data records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Stakeholder owner: Administration team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86200" y="3438144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D8E1EA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087368" y="360273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D2733"/>
                </a:solidFill>
              </a:rPr>
              <a:t>Preconditions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087368" y="3968496"/>
            <a:ext cx="2478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Nomination period is open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Staff and unit data are preloaded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Student can access the form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022592" y="3438144"/>
            <a:ext cx="2880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  <a:effectLst>
            <a:outerShdw sx="100000" sy="100000" kx="0" ky="0" algn="bl" rotWithShape="0" blurRad="12700" dist="50800" dir="2700000">
              <a:srgbClr val="D8E1EA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23760" y="3602736"/>
            <a:ext cx="2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D2733"/>
                </a:solidFill>
              </a:rPr>
              <a:t>Postconditions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223760" y="3968496"/>
            <a:ext cx="24780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Nomination is stored with timestamp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Matched nominee and unit are saved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Student receives confirmation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0104120" y="3438144"/>
            <a:ext cx="1353312" cy="1600200"/>
          </a:xfrm>
          <a:prstGeom prst="roundRect">
            <a:avLst>
              <a:gd name="adj" fmla="val 4054"/>
            </a:avLst>
          </a:prstGeom>
          <a:solidFill>
            <a:srgbClr val="FFF5F5"/>
          </a:solidFill>
          <a:ln w="12700">
            <a:solidFill>
              <a:srgbClr val="F5C2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0" y="363931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2318"/>
                </a:solidFill>
              </a:rPr>
              <a:t>Alternative flows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241280" y="4096512"/>
            <a:ext cx="1078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Invalid lecturer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Invalid unit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Missing comments</a:t>
            </a:r>
            <a:endParaRPr lang="en-US" sz="740" dirty="0"/>
          </a:p>
          <a:p>
            <a:pPr algn="ctr" indent="0" marL="0">
              <a:buNone/>
            </a:pPr>
            <a:r>
              <a:rPr lang="en-US" sz="740" dirty="0">
                <a:solidFill>
                  <a:srgbClr val="64748B"/>
                </a:solidFill>
              </a:rPr>
              <a:t>Late submission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1060704" y="5687568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D2733"/>
                </a:solidFill>
              </a:rPr>
              <a:t>Why this use case matters: it addresses the current manual correction problem directly.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138160" y="5669280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571957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ST-01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8759952" y="5669280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59952" y="571957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ST-02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9381744" y="5669280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81744" y="571957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ST-03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10003536" y="5669280"/>
            <a:ext cx="530352" cy="228600"/>
          </a:xfrm>
          <a:prstGeom prst="roundRect">
            <a:avLst>
              <a:gd name="adj" fmla="val 16000"/>
            </a:avLst>
          </a:prstGeom>
          <a:solidFill>
            <a:srgbClr val="1E5B8A"/>
          </a:solidFill>
          <a:ln w="12700">
            <a:solidFill>
              <a:srgbClr val="1E5B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03536" y="5719572"/>
            <a:ext cx="5303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DA-03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236"/>
          </a:solidFill>
          <a:ln w="12700">
            <a:solidFill>
              <a:srgbClr val="0D22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502920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Recommendations and best practice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6263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4D5E2"/>
                </a:solidFill>
              </a:rPr>
              <a:t>What we learned from turning Assessment 1 requirements into usable system behaviour.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94944" y="1755648"/>
            <a:ext cx="4956048" cy="1353312"/>
          </a:xfrm>
          <a:prstGeom prst="roundRect">
            <a:avLst>
              <a:gd name="adj" fmla="val 4054"/>
            </a:avLst>
          </a:prstGeom>
          <a:solidFill>
            <a:srgbClr val="173C58"/>
          </a:solidFill>
          <a:ln w="10160">
            <a:solidFill>
              <a:srgbClr val="315E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11680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4884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536192" y="20116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Start with operational pain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536192" y="23774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6E4ED"/>
                </a:solidFill>
              </a:rPr>
              <a:t>Our strongest requirements came from the manual workload: matching staff/unit records, grouping comments, and contacting nominees.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6227064" y="1755648"/>
            <a:ext cx="4956048" cy="1353312"/>
          </a:xfrm>
          <a:prstGeom prst="roundRect">
            <a:avLst>
              <a:gd name="adj" fmla="val 4054"/>
            </a:avLst>
          </a:prstGeom>
          <a:solidFill>
            <a:srgbClr val="102C43"/>
          </a:solidFill>
          <a:ln w="10160">
            <a:solidFill>
              <a:srgbClr val="315E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8232" y="2011680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148840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2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068312" y="20116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Keep use cases testable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068312" y="237744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6E4ED"/>
                </a:solidFill>
              </a:rPr>
              <a:t>Preconditions, postconditions, and alternative flows should be specific enough to become acceptance tests.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694944" y="3621024"/>
            <a:ext cx="4956048" cy="1353312"/>
          </a:xfrm>
          <a:prstGeom prst="roundRect">
            <a:avLst>
              <a:gd name="adj" fmla="val 4054"/>
            </a:avLst>
          </a:prstGeom>
          <a:solidFill>
            <a:srgbClr val="102C43"/>
          </a:solidFill>
          <a:ln w="10160">
            <a:solidFill>
              <a:srgbClr val="315E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877056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01421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3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536192" y="38770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Trace every feature back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536192" y="42428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6E4ED"/>
                </a:solidFill>
              </a:rPr>
              <a:t>Autocomplete, master data upload, review, exports, and access control all map back to stakeholder goals.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6227064" y="3621024"/>
            <a:ext cx="4956048" cy="1353312"/>
          </a:xfrm>
          <a:prstGeom prst="roundRect">
            <a:avLst>
              <a:gd name="adj" fmla="val 4054"/>
            </a:avLst>
          </a:prstGeom>
          <a:solidFill>
            <a:srgbClr val="102C43"/>
          </a:solidFill>
          <a:ln w="10160">
            <a:solidFill>
              <a:srgbClr val="315E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8232" y="3877056"/>
            <a:ext cx="475488" cy="475488"/>
          </a:xfrm>
          <a:prstGeom prst="ellipse">
            <a:avLst/>
          </a:prstGeom>
          <a:solidFill>
            <a:srgbClr val="D8A31A"/>
          </a:solidFill>
          <a:ln w="12700">
            <a:solidFill>
              <a:srgbClr val="D8A3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8232" y="4014216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4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7068312" y="387705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Exclude deliberately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68312" y="424281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D6E4ED"/>
                </a:solidFill>
              </a:rPr>
              <a:t>No native mobile app, full university integration, or advanced AI analysis: these were outside prototype scope and budget.</a:t>
            </a:r>
            <a:endParaRPr lang="en-US" sz="770" dirty="0"/>
          </a:p>
        </p:txBody>
      </p:sp>
      <p:sp>
        <p:nvSpPr>
          <p:cNvPr id="25" name="Shape 23"/>
          <p:cNvSpPr/>
          <p:nvPr/>
        </p:nvSpPr>
        <p:spPr>
          <a:xfrm>
            <a:off x="640080" y="5760720"/>
            <a:ext cx="10927080" cy="18288"/>
          </a:xfrm>
          <a:prstGeom prst="rect">
            <a:avLst/>
          </a:prstGeom>
          <a:solidFill>
            <a:srgbClr val="315E78"/>
          </a:solidFill>
          <a:ln w="12700">
            <a:solidFill>
              <a:srgbClr val="315E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5971032"/>
            <a:ext cx="9784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4CF"/>
                </a:solidFill>
              </a:rPr>
              <a:t>Takeaway: good stakeholder analysis prevents vague requirements; good use cases make the prototype easier to build, review, and test.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716768" y="644652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EA7B7"/>
                </a:solidFill>
              </a:rPr>
              <a:t>Group 6 | 5/5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UWA Business School Award Survey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Stakeholder and Use Case Analysis - Group 6</dc:title>
  <dc:subject>Stakeholder analysis and use cases</dc:subject>
  <dc:creator>Group 6</dc:creator>
  <cp:lastModifiedBy>Group 6</cp:lastModifiedBy>
  <cp:revision>1</cp:revision>
  <dcterms:created xsi:type="dcterms:W3CDTF">2026-05-02T13:40:40Z</dcterms:created>
  <dcterms:modified xsi:type="dcterms:W3CDTF">2026-05-02T13:40:40Z</dcterms:modified>
</cp:coreProperties>
</file>